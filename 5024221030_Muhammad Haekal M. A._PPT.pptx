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DM Sans Medium"/>
      <p:regular r:id="rId19"/>
      <p:bold r:id="rId20"/>
      <p:italic r:id="rId21"/>
      <p:boldItalic r:id="rId22"/>
    </p:embeddedFont>
    <p:embeddedFont>
      <p:font typeface="Merriweather"/>
      <p:regular r:id="rId23"/>
      <p:bold r:id="rId24"/>
      <p:italic r:id="rId25"/>
      <p:boldItalic r:id="rId26"/>
    </p:embeddedFont>
    <p:embeddedFont>
      <p:font typeface="DM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Medium-bold.fntdata"/><Relationship Id="rId22" Type="http://schemas.openxmlformats.org/officeDocument/2006/relationships/font" Target="fonts/DMSansMedium-boldItalic.fntdata"/><Relationship Id="rId21" Type="http://schemas.openxmlformats.org/officeDocument/2006/relationships/font" Target="fonts/DMSansMedium-italic.fntdata"/><Relationship Id="rId24" Type="http://schemas.openxmlformats.org/officeDocument/2006/relationships/font" Target="fonts/Merriweather-bold.fntdata"/><Relationship Id="rId23" Type="http://schemas.openxmlformats.org/officeDocument/2006/relationships/font" Target="fonts/Merriweather-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boldItalic.fntdata"/><Relationship Id="rId25" Type="http://schemas.openxmlformats.org/officeDocument/2006/relationships/font" Target="fonts/Merriweather-italic.fntdata"/><Relationship Id="rId28" Type="http://schemas.openxmlformats.org/officeDocument/2006/relationships/font" Target="fonts/DMSans-bold.fntdata"/><Relationship Id="rId27" Type="http://schemas.openxmlformats.org/officeDocument/2006/relationships/font" Target="fonts/DM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DM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DMSansMedium-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6bf3b136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6bf3b136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bf3b136a7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6bf3b136a7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bf3b136a7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6bf3b136a7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6bf3b136a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6bf3b136a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6bf3b136a7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6bf3b136a7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bf3b136a7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bf3b136a7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6bf3b136a7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6bf3b136a7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6bf3b136a7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6bf3b136a7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bf3b136a7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bf3b136a7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6bf3b136a7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6bf3b136a7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6bf3b136a7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6bf3b136a7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6bf3b136a7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6bf3b136a7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6bf3b136a7_0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6bf3b136a7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33" name="Google Shape;133;p2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34" name="Google Shape;134;p23"/>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5" name="Google Shape;135;p23"/>
          <p:cNvSpPr/>
          <p:nvPr>
            <p:ph idx="3" type="pic"/>
          </p:nvPr>
        </p:nvSpPr>
        <p:spPr>
          <a:xfrm>
            <a:off x="4437578" y="2171250"/>
            <a:ext cx="4509600" cy="2775600"/>
          </a:xfrm>
          <a:prstGeom prst="round2DiagRect">
            <a:avLst>
              <a:gd fmla="val 16667" name="adj1"/>
              <a:gd fmla="val 0" name="adj2"/>
            </a:avLst>
          </a:prstGeom>
          <a:noFill/>
          <a:ln>
            <a:noFill/>
          </a:ln>
        </p:spPr>
      </p:sp>
      <p:sp>
        <p:nvSpPr>
          <p:cNvPr id="136" name="Google Shape;136;p23"/>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37" name="Shape 137"/>
        <p:cNvGrpSpPr/>
        <p:nvPr/>
      </p:nvGrpSpPr>
      <p:grpSpPr>
        <a:xfrm>
          <a:off x="0" y="0"/>
          <a:ext cx="0" cy="0"/>
          <a:chOff x="0" y="0"/>
          <a:chExt cx="0" cy="0"/>
        </a:xfrm>
      </p:grpSpPr>
      <p:sp>
        <p:nvSpPr>
          <p:cNvPr id="138" name="Google Shape;138;p24"/>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4"/>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1" name="Google Shape;141;p24"/>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24"/>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24"/>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4" name="Google Shape;144;p2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45" name="Google Shape;145;p24"/>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49" name="Google Shape;149;p25"/>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50" name="Google Shape;150;p25"/>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51" name="Shape 151"/>
        <p:cNvGrpSpPr/>
        <p:nvPr/>
      </p:nvGrpSpPr>
      <p:grpSpPr>
        <a:xfrm>
          <a:off x="0" y="0"/>
          <a:ext cx="0" cy="0"/>
          <a:chOff x="0" y="0"/>
          <a:chExt cx="0" cy="0"/>
        </a:xfrm>
      </p:grpSpPr>
      <p:sp>
        <p:nvSpPr>
          <p:cNvPr id="152" name="Google Shape;15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54" name="Google Shape;154;p26"/>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55" name="Google Shape;155;p2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156" name="Shape 156"/>
        <p:cNvGrpSpPr/>
        <p:nvPr/>
      </p:nvGrpSpPr>
      <p:grpSpPr>
        <a:xfrm>
          <a:off x="0" y="0"/>
          <a:ext cx="0" cy="0"/>
          <a:chOff x="0" y="0"/>
          <a:chExt cx="0" cy="0"/>
        </a:xfrm>
      </p:grpSpPr>
      <p:sp>
        <p:nvSpPr>
          <p:cNvPr id="157" name="Google Shape;157;p2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2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27"/>
          <p:cNvSpPr/>
          <p:nvPr>
            <p:ph idx="2" type="pic"/>
          </p:nvPr>
        </p:nvSpPr>
        <p:spPr>
          <a:xfrm>
            <a:off x="3726325" y="669925"/>
            <a:ext cx="5220900" cy="4276800"/>
          </a:xfrm>
          <a:prstGeom prst="round2DiagRect">
            <a:avLst>
              <a:gd fmla="val 16667" name="adj1"/>
              <a:gd fmla="val 0" name="adj2"/>
            </a:avLst>
          </a:prstGeom>
          <a:noFill/>
          <a:ln>
            <a:noFill/>
          </a:ln>
        </p:spPr>
      </p:sp>
      <p:sp>
        <p:nvSpPr>
          <p:cNvPr id="161" name="Google Shape;161;p27"/>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62" name="Google Shape;162;p2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163" name="Shape 163"/>
        <p:cNvGrpSpPr/>
        <p:nvPr/>
      </p:nvGrpSpPr>
      <p:grpSpPr>
        <a:xfrm>
          <a:off x="0" y="0"/>
          <a:ext cx="0" cy="0"/>
          <a:chOff x="0" y="0"/>
          <a:chExt cx="0" cy="0"/>
        </a:xfrm>
      </p:grpSpPr>
      <p:sp>
        <p:nvSpPr>
          <p:cNvPr id="164" name="Google Shape;164;p2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165" name="Google Shape;165;p2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166" name="Google Shape;16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p:nvPr>
            <p:ph idx="2" type="pic"/>
          </p:nvPr>
        </p:nvSpPr>
        <p:spPr>
          <a:xfrm>
            <a:off x="3726325" y="669925"/>
            <a:ext cx="5220900" cy="4276800"/>
          </a:xfrm>
          <a:prstGeom prst="round2DiagRect">
            <a:avLst>
              <a:gd fmla="val 16667" name="adj1"/>
              <a:gd fmla="val 0" name="adj2"/>
            </a:avLst>
          </a:prstGeom>
          <a:noFill/>
          <a:ln>
            <a:noFill/>
          </a:ln>
        </p:spPr>
      </p:sp>
      <p:sp>
        <p:nvSpPr>
          <p:cNvPr id="168" name="Google Shape;168;p2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69" name="Google Shape;169;p2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170" name="Google Shape;170;p2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171" name="Shape 171"/>
        <p:cNvGrpSpPr/>
        <p:nvPr/>
      </p:nvGrpSpPr>
      <p:grpSpPr>
        <a:xfrm>
          <a:off x="0" y="0"/>
          <a:ext cx="0" cy="0"/>
          <a:chOff x="0" y="0"/>
          <a:chExt cx="0" cy="0"/>
        </a:xfrm>
      </p:grpSpPr>
      <p:sp>
        <p:nvSpPr>
          <p:cNvPr id="172" name="Google Shape;172;p29"/>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3" name="Google Shape;17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175" name="Google Shape;175;p2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176" name="Google Shape;176;p29"/>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77" name="Google Shape;177;p2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178" name="Shape 178"/>
        <p:cNvGrpSpPr/>
        <p:nvPr/>
      </p:nvGrpSpPr>
      <p:grpSpPr>
        <a:xfrm>
          <a:off x="0" y="0"/>
          <a:ext cx="0" cy="0"/>
          <a:chOff x="0" y="0"/>
          <a:chExt cx="0" cy="0"/>
        </a:xfrm>
      </p:grpSpPr>
      <p:sp>
        <p:nvSpPr>
          <p:cNvPr id="179" name="Google Shape;17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30"/>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1" name="Google Shape;181;p30"/>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2" name="Google Shape;182;p30"/>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3" name="Google Shape;183;p30"/>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4" name="Google Shape;184;p30"/>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5" name="Google Shape;185;p30"/>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6" name="Google Shape;186;p30"/>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7" name="Google Shape;187;p30"/>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8" name="Google Shape;188;p30"/>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9" name="Google Shape;189;p30"/>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0" name="Google Shape;190;p30"/>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1" name="Google Shape;191;p30"/>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2" name="Google Shape;192;p30"/>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3" name="Google Shape;193;p30"/>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4" name="Google Shape;194;p30"/>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5" name="Google Shape;195;p30"/>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6" name="Google Shape;196;p30"/>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7" name="Google Shape;197;p30"/>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8" name="Google Shape;198;p30"/>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9" name="Google Shape;199;p30"/>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0" name="Google Shape;200;p30"/>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1" name="Google Shape;201;p30"/>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2" name="Google Shape;202;p30"/>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3" name="Google Shape;203;p30"/>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4" name="Google Shape;204;p30"/>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5" name="Google Shape;205;p30"/>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6" name="Google Shape;206;p30"/>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7" name="Google Shape;207;p30"/>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8" name="Google Shape;208;p30"/>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09" name="Shape 209"/>
        <p:cNvGrpSpPr/>
        <p:nvPr/>
      </p:nvGrpSpPr>
      <p:grpSpPr>
        <a:xfrm>
          <a:off x="0" y="0"/>
          <a:ext cx="0" cy="0"/>
          <a:chOff x="0" y="0"/>
          <a:chExt cx="0" cy="0"/>
        </a:xfrm>
      </p:grpSpPr>
      <p:sp>
        <p:nvSpPr>
          <p:cNvPr id="210" name="Google Shape;21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3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12" name="Google Shape;212;p3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50"/>
              <a:t>PENERAPAN MODEL MACHINE LEARNING UNTUK MENINGKATKAN EFISIENSI ALGORITMA CLOCK PADA CACHE REPLACEMENT</a:t>
            </a:r>
            <a:endParaRPr sz="2850"/>
          </a:p>
        </p:txBody>
      </p:sp>
      <p:sp>
        <p:nvSpPr>
          <p:cNvPr id="218" name="Google Shape;218;p32"/>
          <p:cNvSpPr txBox="1"/>
          <p:nvPr>
            <p:ph idx="2" type="subTitle"/>
          </p:nvPr>
        </p:nvSpPr>
        <p:spPr>
          <a:xfrm>
            <a:off x="196950" y="2016150"/>
            <a:ext cx="44061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Muhammad Haekal M. A.</a:t>
            </a:r>
            <a:endParaRPr/>
          </a:p>
          <a:p>
            <a:pPr indent="0" lvl="0" marL="0" rtl="0" algn="l">
              <a:spcBef>
                <a:spcPts val="0"/>
              </a:spcBef>
              <a:spcAft>
                <a:spcPts val="0"/>
              </a:spcAft>
              <a:buNone/>
            </a:pPr>
            <a:r>
              <a:rPr lang="en"/>
              <a:t>NRP 5024221030</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DM Sans"/>
                <a:ea typeface="DM Sans"/>
                <a:cs typeface="DM Sans"/>
                <a:sym typeface="DM Sans"/>
              </a:rPr>
              <a:t>Pembimbing</a:t>
            </a:r>
            <a:endParaRPr b="1">
              <a:latin typeface="DM Sans"/>
              <a:ea typeface="DM Sans"/>
              <a:cs typeface="DM Sans"/>
              <a:sym typeface="DM Sans"/>
            </a:endParaRPr>
          </a:p>
          <a:p>
            <a:pPr indent="0" lvl="0" marL="0" rtl="0" algn="l">
              <a:spcBef>
                <a:spcPts val="0"/>
              </a:spcBef>
              <a:spcAft>
                <a:spcPts val="0"/>
              </a:spcAft>
              <a:buNone/>
            </a:pPr>
            <a:r>
              <a:t/>
            </a:r>
            <a:endParaRPr b="1">
              <a:latin typeface="DM Sans"/>
              <a:ea typeface="DM Sans"/>
              <a:cs typeface="DM Sans"/>
              <a:sym typeface="DM Sans"/>
            </a:endParaRPr>
          </a:p>
          <a:p>
            <a:pPr indent="0" lvl="0" marL="0" rtl="0" algn="l">
              <a:spcBef>
                <a:spcPts val="0"/>
              </a:spcBef>
              <a:spcAft>
                <a:spcPts val="0"/>
              </a:spcAft>
              <a:buNone/>
            </a:pPr>
            <a:r>
              <a:rPr lang="en"/>
              <a:t>Reza Fuad Rachmadi, S.T., M.T., Ph.D	</a:t>
            </a:r>
            <a:endParaRPr/>
          </a:p>
          <a:p>
            <a:pPr indent="0" lvl="0" marL="0" rtl="0" algn="l">
              <a:spcBef>
                <a:spcPts val="0"/>
              </a:spcBef>
              <a:spcAft>
                <a:spcPts val="0"/>
              </a:spcAft>
              <a:buNone/>
            </a:pPr>
            <a:r>
              <a:rPr lang="en"/>
              <a:t>NIP </a:t>
            </a:r>
            <a:r>
              <a:rPr lang="en"/>
              <a:t>19850403 201212 1 001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Dr. </a:t>
            </a:r>
            <a:r>
              <a:rPr lang="en"/>
              <a:t>Arief Kurniawan, S.T., M.T</a:t>
            </a:r>
            <a:endParaRPr/>
          </a:p>
          <a:p>
            <a:pPr indent="0" lvl="0" marL="0" rtl="0" algn="l">
              <a:spcBef>
                <a:spcPts val="0"/>
              </a:spcBef>
              <a:spcAft>
                <a:spcPts val="0"/>
              </a:spcAft>
              <a:buNone/>
            </a:pPr>
            <a:r>
              <a:rPr lang="en"/>
              <a:t>NIP 19740907 200212 1 001</a:t>
            </a:r>
            <a:endParaRPr/>
          </a:p>
        </p:txBody>
      </p:sp>
      <p:pic>
        <p:nvPicPr>
          <p:cNvPr id="219" name="Google Shape;219;p32"/>
          <p:cNvPicPr preferRelativeResize="0"/>
          <p:nvPr/>
        </p:nvPicPr>
        <p:blipFill>
          <a:blip r:embed="rId3">
            <a:alphaModFix/>
          </a:blip>
          <a:stretch>
            <a:fillRect/>
          </a:stretch>
        </p:blipFill>
        <p:spPr>
          <a:xfrm>
            <a:off x="6054775" y="3108725"/>
            <a:ext cx="2857500" cy="1838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idx="6" type="subTitle"/>
          </p:nvPr>
        </p:nvSpPr>
        <p:spPr>
          <a:xfrm>
            <a:off x="6212275" y="1336150"/>
            <a:ext cx="2455500" cy="77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800"/>
              <a:t>Useless Promotion</a:t>
            </a:r>
            <a:endParaRPr sz="2800"/>
          </a:p>
        </p:txBody>
      </p:sp>
      <p:sp>
        <p:nvSpPr>
          <p:cNvPr id="225" name="Google Shape;225;p33"/>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Akses cepat sangat penting dalam sistem komputer. </a:t>
            </a:r>
            <a:endParaRPr sz="1800"/>
          </a:p>
        </p:txBody>
      </p:sp>
      <p:sp>
        <p:nvSpPr>
          <p:cNvPr id="226" name="Google Shape;226;p33"/>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Hampir setiap sistem komputer memiliki cache. 	</a:t>
            </a:r>
            <a:endParaRPr sz="1800"/>
          </a:p>
        </p:txBody>
      </p:sp>
      <p:sp>
        <p:nvSpPr>
          <p:cNvPr id="227" name="Google Shape;227;p33"/>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Algoritma cache eviction saat ini memiliki banyak promosi sia-sia </a:t>
            </a:r>
            <a:endParaRPr sz="1800"/>
          </a:p>
        </p:txBody>
      </p:sp>
      <p:sp>
        <p:nvSpPr>
          <p:cNvPr id="228" name="Google Shape;228;p33"/>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700"/>
              <a:t>Latar Belakang</a:t>
            </a:r>
            <a:endParaRPr sz="3700"/>
          </a:p>
        </p:txBody>
      </p:sp>
      <p:sp>
        <p:nvSpPr>
          <p:cNvPr id="229" name="Google Shape;229;p33"/>
          <p:cNvSpPr txBox="1"/>
          <p:nvPr>
            <p:ph idx="4" type="subTitle"/>
          </p:nvPr>
        </p:nvSpPr>
        <p:spPr>
          <a:xfrm>
            <a:off x="483175" y="1336150"/>
            <a:ext cx="2455500" cy="77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800"/>
              <a:t>Cache</a:t>
            </a:r>
            <a:endParaRPr sz="2800"/>
          </a:p>
        </p:txBody>
      </p:sp>
      <p:sp>
        <p:nvSpPr>
          <p:cNvPr id="230" name="Google Shape;230;p33"/>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Quick Access</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idx="1" type="body"/>
          </p:nvPr>
        </p:nvSpPr>
        <p:spPr>
          <a:xfrm>
            <a:off x="483175" y="2417500"/>
            <a:ext cx="3754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500"/>
              <a:t>Promosi atau reinsertion adalah salah satu upaya untuk mempertahankan object populer pada cache. Namun promosi itu sendiri sangat membebani sistem. Pada sistem cache dengan lock reinsertion membebani throughput dari cache. Promosi juga mengurangi daya tahan flash device.</a:t>
            </a:r>
            <a:endParaRPr sz="1500"/>
          </a:p>
        </p:txBody>
      </p:sp>
      <p:sp>
        <p:nvSpPr>
          <p:cNvPr id="236" name="Google Shape;236;p34"/>
          <p:cNvSpPr txBox="1"/>
          <p:nvPr>
            <p:ph idx="2" type="body"/>
          </p:nvPr>
        </p:nvSpPr>
        <p:spPr>
          <a:xfrm>
            <a:off x="4863284" y="2417500"/>
            <a:ext cx="3754500" cy="237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t>Pada algoritma yang menerapkan promosi seperti clock. Terjadi promosi yang tidak terpakai sehingga hal itu hanya akan membebani sistem	</a:t>
            </a:r>
            <a:endParaRPr sz="1500"/>
          </a:p>
        </p:txBody>
      </p:sp>
      <p:sp>
        <p:nvSpPr>
          <p:cNvPr id="237" name="Google Shape;237;p34"/>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t>Masalah</a:t>
            </a:r>
            <a:endParaRPr sz="3100"/>
          </a:p>
        </p:txBody>
      </p:sp>
      <p:sp>
        <p:nvSpPr>
          <p:cNvPr id="238" name="Google Shape;238;p34"/>
          <p:cNvSpPr txBox="1"/>
          <p:nvPr>
            <p:ph idx="4" type="subTitle"/>
          </p:nvPr>
        </p:nvSpPr>
        <p:spPr>
          <a:xfrm>
            <a:off x="483175" y="1336150"/>
            <a:ext cx="3754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Promotion Affects Performance</a:t>
            </a:r>
            <a:endParaRPr sz="2500"/>
          </a:p>
        </p:txBody>
      </p:sp>
      <p:sp>
        <p:nvSpPr>
          <p:cNvPr id="239" name="Google Shape;239;p34"/>
          <p:cNvSpPr txBox="1"/>
          <p:nvPr>
            <p:ph idx="5" type="subTitle"/>
          </p:nvPr>
        </p:nvSpPr>
        <p:spPr>
          <a:xfrm>
            <a:off x="4863284" y="1336150"/>
            <a:ext cx="3754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Useless Promotions	</a:t>
            </a: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5"/>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900"/>
              <a:t>Menggunakan pendekatan machine learning pada cache eviction untuk memprediksi promosi yang sia sia</a:t>
            </a:r>
            <a:endParaRPr sz="1900"/>
          </a:p>
        </p:txBody>
      </p:sp>
      <p:sp>
        <p:nvSpPr>
          <p:cNvPr id="245" name="Google Shape;245;p35"/>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900"/>
              <a:t>Meningkatkan performa algoritma clock dengan mengurangi jumlah promosi.</a:t>
            </a:r>
            <a:endParaRPr sz="1900"/>
          </a:p>
        </p:txBody>
      </p:sp>
      <p:sp>
        <p:nvSpPr>
          <p:cNvPr id="246" name="Google Shape;246;p3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t>Tujuan</a:t>
            </a:r>
            <a:endParaRPr sz="3100"/>
          </a:p>
        </p:txBody>
      </p:sp>
      <p:sp>
        <p:nvSpPr>
          <p:cNvPr id="247" name="Google Shape;247;p35"/>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ML </a:t>
            </a:r>
            <a:endParaRPr sz="2900"/>
          </a:p>
        </p:txBody>
      </p:sp>
      <p:sp>
        <p:nvSpPr>
          <p:cNvPr id="248" name="Google Shape;248;p35"/>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Effectivity</a:t>
            </a:r>
            <a:r>
              <a:rPr lang="en" sz="2900"/>
              <a:t>	</a:t>
            </a:r>
            <a:endParaRPr sz="2900"/>
          </a:p>
        </p:txBody>
      </p:sp>
      <p:sp>
        <p:nvSpPr>
          <p:cNvPr id="249" name="Google Shape;249;p35"/>
          <p:cNvSpPr txBox="1"/>
          <p:nvPr>
            <p:ph idx="2" type="body"/>
          </p:nvPr>
        </p:nvSpPr>
        <p:spPr>
          <a:xfrm>
            <a:off x="621227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900"/>
              <a:t>Melakukan evaluasi pada faktor-faktor apa saja yang </a:t>
            </a:r>
            <a:r>
              <a:rPr lang="en" sz="1900"/>
              <a:t>mempengaruhi</a:t>
            </a:r>
            <a:r>
              <a:rPr lang="en" sz="1900"/>
              <a:t> efektivitas model pada algoritma clock</a:t>
            </a:r>
            <a:endParaRPr sz="1900"/>
          </a:p>
        </p:txBody>
      </p:sp>
      <p:sp>
        <p:nvSpPr>
          <p:cNvPr id="250" name="Google Shape;250;p35"/>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Evaluation</a:t>
            </a:r>
            <a:r>
              <a:rPr lang="en" sz="2900"/>
              <a:t>	</a:t>
            </a:r>
            <a:endParaRPr sz="2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ph type="title"/>
          </p:nvPr>
        </p:nvSpPr>
        <p:spPr>
          <a:xfrm>
            <a:off x="197375" y="196450"/>
            <a:ext cx="3151800" cy="97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CLOCK</a:t>
            </a:r>
            <a:endParaRPr/>
          </a:p>
        </p:txBody>
      </p:sp>
      <p:sp>
        <p:nvSpPr>
          <p:cNvPr id="256" name="Google Shape;256;p36"/>
          <p:cNvSpPr txBox="1"/>
          <p:nvPr>
            <p:ph idx="1" type="body"/>
          </p:nvPr>
        </p:nvSpPr>
        <p:spPr>
          <a:xfrm>
            <a:off x="197375" y="1414475"/>
            <a:ext cx="315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accent3"/>
              </a:buClr>
              <a:buSzPts val="1100"/>
              <a:buFont typeface="Arial"/>
              <a:buNone/>
            </a:pPr>
            <a:r>
              <a:rPr lang="en" sz="1600"/>
              <a:t>Algoritma clock adalah algoritma cache replacement/eviction yang didasarkan pada FIFO. Tidak seperti FIFO yang akan secara langsung membuang object tertua. Pada clock, object yang pernah diakses akan dimasukkan kembali hal ini disebut reinsertion.</a:t>
            </a:r>
            <a:endParaRPr sz="1600"/>
          </a:p>
        </p:txBody>
      </p:sp>
      <p:pic>
        <p:nvPicPr>
          <p:cNvPr id="257" name="Google Shape;257;p36"/>
          <p:cNvPicPr preferRelativeResize="0"/>
          <p:nvPr/>
        </p:nvPicPr>
        <p:blipFill>
          <a:blip r:embed="rId3">
            <a:alphaModFix/>
          </a:blip>
          <a:stretch>
            <a:fillRect/>
          </a:stretch>
        </p:blipFill>
        <p:spPr>
          <a:xfrm>
            <a:off x="4505475" y="1414463"/>
            <a:ext cx="4495800" cy="2314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7"/>
          <p:cNvSpPr txBox="1"/>
          <p:nvPr>
            <p:ph type="title"/>
          </p:nvPr>
        </p:nvSpPr>
        <p:spPr>
          <a:xfrm>
            <a:off x="197375" y="745475"/>
            <a:ext cx="3151800" cy="97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Custom Cache Simulator</a:t>
            </a:r>
            <a:endParaRPr/>
          </a:p>
        </p:txBody>
      </p:sp>
      <p:sp>
        <p:nvSpPr>
          <p:cNvPr id="263" name="Google Shape;263;p37"/>
          <p:cNvSpPr txBox="1"/>
          <p:nvPr>
            <p:ph idx="1" type="body"/>
          </p:nvPr>
        </p:nvSpPr>
        <p:spPr>
          <a:xfrm>
            <a:off x="197375" y="1906550"/>
            <a:ext cx="315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sz="1600"/>
              <a:t>Cache Simulator digunakan untuk mensimulasikan trace. Simulasi akan menghasilkan metrics berupa miss_ratio, hit_ratio, reinsertion, dll</a:t>
            </a:r>
            <a:endParaRPr sz="1600"/>
          </a:p>
          <a:p>
            <a:pPr indent="0" lvl="0" marL="0" rtl="0" algn="l">
              <a:spcBef>
                <a:spcPts val="1200"/>
              </a:spcBef>
              <a:spcAft>
                <a:spcPts val="1200"/>
              </a:spcAft>
              <a:buClr>
                <a:schemeClr val="accent3"/>
              </a:buClr>
              <a:buSzPts val="1100"/>
              <a:buFont typeface="Arial"/>
              <a:buNone/>
            </a:pPr>
            <a:r>
              <a:rPr lang="en" sz="1600"/>
              <a:t>Selain itu program juga menghasilkan datasets berisi object metadata saat promosi dan apakah promosi itu sia-sia atau tidak</a:t>
            </a:r>
            <a:endParaRPr sz="1600"/>
          </a:p>
        </p:txBody>
      </p:sp>
      <p:pic>
        <p:nvPicPr>
          <p:cNvPr id="264" name="Google Shape;264;p37"/>
          <p:cNvPicPr preferRelativeResize="0"/>
          <p:nvPr/>
        </p:nvPicPr>
        <p:blipFill>
          <a:blip r:embed="rId3">
            <a:alphaModFix/>
          </a:blip>
          <a:stretch>
            <a:fillRect/>
          </a:stretch>
        </p:blipFill>
        <p:spPr>
          <a:xfrm>
            <a:off x="5250425" y="152400"/>
            <a:ext cx="3019259"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idx="1" type="body"/>
          </p:nvPr>
        </p:nvSpPr>
        <p:spPr>
          <a:xfrm>
            <a:off x="866265" y="1062375"/>
            <a:ext cx="31287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1500"/>
              <a:t>time-col,obj-id-col,obj-size-col</a:t>
            </a:r>
            <a:endParaRPr sz="1500"/>
          </a:p>
          <a:p>
            <a:pPr indent="0" lvl="0" marL="0" rtl="0" algn="l">
              <a:spcBef>
                <a:spcPts val="1200"/>
              </a:spcBef>
              <a:spcAft>
                <a:spcPts val="0"/>
              </a:spcAft>
              <a:buClr>
                <a:schemeClr val="hlink"/>
              </a:buClr>
              <a:buSzPts val="1100"/>
              <a:buFont typeface="Arial"/>
              <a:buNone/>
            </a:pPr>
            <a:r>
              <a:rPr lang="en" sz="1500"/>
              <a:t>0,0,1</a:t>
            </a:r>
            <a:endParaRPr sz="1500"/>
          </a:p>
          <a:p>
            <a:pPr indent="0" lvl="0" marL="0" rtl="0" algn="l">
              <a:spcBef>
                <a:spcPts val="1200"/>
              </a:spcBef>
              <a:spcAft>
                <a:spcPts val="0"/>
              </a:spcAft>
              <a:buClr>
                <a:schemeClr val="hlink"/>
              </a:buClr>
              <a:buSzPts val="1100"/>
              <a:buFont typeface="Arial"/>
              <a:buNone/>
            </a:pPr>
            <a:r>
              <a:rPr lang="en" sz="1500"/>
              <a:t>0,1,1</a:t>
            </a:r>
            <a:endParaRPr sz="1500"/>
          </a:p>
          <a:p>
            <a:pPr indent="0" lvl="0" marL="0" rtl="0" algn="l">
              <a:spcBef>
                <a:spcPts val="1200"/>
              </a:spcBef>
              <a:spcAft>
                <a:spcPts val="0"/>
              </a:spcAft>
              <a:buClr>
                <a:schemeClr val="hlink"/>
              </a:buClr>
              <a:buSzPts val="1100"/>
              <a:buFont typeface="Arial"/>
              <a:buNone/>
            </a:pPr>
            <a:r>
              <a:rPr lang="en" sz="1500"/>
              <a:t>0,2,1</a:t>
            </a:r>
            <a:endParaRPr sz="1500"/>
          </a:p>
          <a:p>
            <a:pPr indent="0" lvl="0" marL="0" rtl="0" algn="l">
              <a:spcBef>
                <a:spcPts val="1200"/>
              </a:spcBef>
              <a:spcAft>
                <a:spcPts val="1200"/>
              </a:spcAft>
              <a:buNone/>
            </a:pPr>
            <a:r>
              <a:rPr lang="en" sz="1500"/>
              <a:t>0,3,1</a:t>
            </a:r>
            <a:endParaRPr sz="1500"/>
          </a:p>
        </p:txBody>
      </p:sp>
      <p:sp>
        <p:nvSpPr>
          <p:cNvPr id="270" name="Google Shape;270;p38"/>
          <p:cNvSpPr txBox="1"/>
          <p:nvPr>
            <p:ph idx="2" type="body"/>
          </p:nvPr>
        </p:nvSpPr>
        <p:spPr>
          <a:xfrm>
            <a:off x="4141025" y="1062375"/>
            <a:ext cx="4136700" cy="2373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100"/>
              <a:buNone/>
            </a:pPr>
            <a:r>
              <a:rPr lang="en" sz="1487"/>
              <a:t>{</a:t>
            </a:r>
            <a:endParaRPr sz="1487"/>
          </a:p>
          <a:p>
            <a:pPr indent="457200" lvl="0" marL="0" rtl="0" algn="l">
              <a:lnSpc>
                <a:spcPct val="105000"/>
              </a:lnSpc>
              <a:spcBef>
                <a:spcPts val="1200"/>
              </a:spcBef>
              <a:spcAft>
                <a:spcPts val="0"/>
              </a:spcAft>
              <a:buSzPts val="1100"/>
              <a:buNone/>
            </a:pPr>
            <a:r>
              <a:rPr lang="en" sz="1487"/>
              <a:t>"admission_treshold": 1,</a:t>
            </a:r>
            <a:endParaRPr sz="1487"/>
          </a:p>
          <a:p>
            <a:pPr indent="457200" lvl="0" marL="0" rtl="0" algn="l">
              <a:lnSpc>
                <a:spcPct val="105000"/>
              </a:lnSpc>
              <a:spcBef>
                <a:spcPts val="1200"/>
              </a:spcBef>
              <a:spcAft>
                <a:spcPts val="0"/>
              </a:spcAft>
              <a:buSzPts val="1100"/>
              <a:buNone/>
            </a:pPr>
            <a:r>
              <a:rPr lang="en" sz="1487"/>
              <a:t>"algorithm": "offline-clock",</a:t>
            </a:r>
            <a:endParaRPr sz="1487"/>
          </a:p>
          <a:p>
            <a:pPr indent="457200" lvl="0" marL="0" rtl="0" algn="l">
              <a:lnSpc>
                <a:spcPct val="105000"/>
              </a:lnSpc>
              <a:spcBef>
                <a:spcPts val="1200"/>
              </a:spcBef>
              <a:spcAft>
                <a:spcPts val="0"/>
              </a:spcAft>
              <a:buSzPts val="1100"/>
              <a:buNone/>
            </a:pPr>
            <a:r>
              <a:rPr lang="en" sz="1487"/>
              <a:t>"hit": 22576,</a:t>
            </a:r>
            <a:endParaRPr sz="1487"/>
          </a:p>
          <a:p>
            <a:pPr indent="457200" lvl="0" marL="0" rtl="0" algn="l">
              <a:lnSpc>
                <a:spcPct val="105000"/>
              </a:lnSpc>
              <a:spcBef>
                <a:spcPts val="1200"/>
              </a:spcBef>
              <a:spcAft>
                <a:spcPts val="0"/>
              </a:spcAft>
              <a:buSzPts val="1100"/>
              <a:buNone/>
            </a:pPr>
            <a:r>
              <a:rPr lang="en" sz="1487"/>
              <a:t>"inserted": 91296,</a:t>
            </a:r>
            <a:endParaRPr sz="1487"/>
          </a:p>
          <a:p>
            <a:pPr indent="457200" lvl="0" marL="0" rtl="0" algn="l">
              <a:lnSpc>
                <a:spcPct val="105000"/>
              </a:lnSpc>
              <a:spcBef>
                <a:spcPts val="1200"/>
              </a:spcBef>
              <a:spcAft>
                <a:spcPts val="0"/>
              </a:spcAft>
              <a:buSzPts val="1100"/>
              <a:buNone/>
            </a:pPr>
            <a:r>
              <a:rPr lang="en" sz="1487"/>
              <a:t>"layer": 0,</a:t>
            </a:r>
            <a:endParaRPr sz="1487"/>
          </a:p>
          <a:p>
            <a:pPr indent="457200" lvl="0" marL="0" rtl="0" algn="l">
              <a:lnSpc>
                <a:spcPct val="105000"/>
              </a:lnSpc>
              <a:spcBef>
                <a:spcPts val="1200"/>
              </a:spcBef>
              <a:spcAft>
                <a:spcPts val="0"/>
              </a:spcAft>
              <a:buSzPts val="1100"/>
              <a:buNone/>
            </a:pPr>
            <a:r>
              <a:rPr lang="en" sz="1487"/>
              <a:t>"miss_ratio": 0.8017423071518899,</a:t>
            </a:r>
            <a:endParaRPr sz="1487"/>
          </a:p>
          <a:p>
            <a:pPr indent="457200" lvl="0" marL="0" rtl="0" algn="l">
              <a:lnSpc>
                <a:spcPct val="105000"/>
              </a:lnSpc>
              <a:spcBef>
                <a:spcPts val="1200"/>
              </a:spcBef>
              <a:spcAft>
                <a:spcPts val="0"/>
              </a:spcAft>
              <a:buSzPts val="1100"/>
              <a:buNone/>
            </a:pPr>
            <a:r>
              <a:rPr lang="en" sz="1487"/>
              <a:t>"reinserted": 772,</a:t>
            </a:r>
            <a:endParaRPr sz="1487"/>
          </a:p>
          <a:p>
            <a:pPr indent="457200" lvl="0" marL="0" rtl="0" algn="l">
              <a:lnSpc>
                <a:spcPct val="105000"/>
              </a:lnSpc>
              <a:spcBef>
                <a:spcPts val="1200"/>
              </a:spcBef>
              <a:spcAft>
                <a:spcPts val="0"/>
              </a:spcAft>
              <a:buSzPts val="1100"/>
              <a:buNone/>
            </a:pPr>
            <a:r>
              <a:rPr lang="en" sz="1487"/>
              <a:t>"req": 113872</a:t>
            </a:r>
            <a:endParaRPr sz="1487"/>
          </a:p>
          <a:p>
            <a:pPr indent="0" lvl="0" marL="0" rtl="0" algn="l">
              <a:lnSpc>
                <a:spcPct val="105000"/>
              </a:lnSpc>
              <a:spcBef>
                <a:spcPts val="1200"/>
              </a:spcBef>
              <a:spcAft>
                <a:spcPts val="1200"/>
              </a:spcAft>
              <a:buSzPts val="358"/>
              <a:buNone/>
            </a:pPr>
            <a:r>
              <a:rPr lang="en" sz="1487"/>
              <a:t>}</a:t>
            </a:r>
            <a:endParaRPr sz="1487"/>
          </a:p>
        </p:txBody>
      </p:sp>
      <p:sp>
        <p:nvSpPr>
          <p:cNvPr id="271" name="Google Shape;271;p38"/>
          <p:cNvSpPr txBox="1"/>
          <p:nvPr>
            <p:ph idx="4" type="subTitle"/>
          </p:nvPr>
        </p:nvSpPr>
        <p:spPr>
          <a:xfrm>
            <a:off x="866265" y="283875"/>
            <a:ext cx="31287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Trace Format</a:t>
            </a:r>
            <a:endParaRPr sz="2500"/>
          </a:p>
        </p:txBody>
      </p:sp>
      <p:sp>
        <p:nvSpPr>
          <p:cNvPr id="272" name="Google Shape;272;p38"/>
          <p:cNvSpPr txBox="1"/>
          <p:nvPr>
            <p:ph idx="5" type="subTitle"/>
          </p:nvPr>
        </p:nvSpPr>
        <p:spPr>
          <a:xfrm>
            <a:off x="4141035" y="283875"/>
            <a:ext cx="41367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Output</a:t>
            </a:r>
            <a:endParaRPr sz="2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idx="2" type="body"/>
          </p:nvPr>
        </p:nvSpPr>
        <p:spPr>
          <a:xfrm>
            <a:off x="197375" y="1384950"/>
            <a:ext cx="5934900" cy="2373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358"/>
              <a:buNone/>
            </a:pPr>
            <a:r>
              <a:rPr lang="en" sz="1487"/>
              <a:t>obj_id rtime_since rtime_since_log ... obj_size_relative wasted</a:t>
            </a:r>
            <a:endParaRPr sz="1487"/>
          </a:p>
          <a:p>
            <a:pPr indent="0" lvl="0" marL="0" rtl="0" algn="l">
              <a:lnSpc>
                <a:spcPct val="105000"/>
              </a:lnSpc>
              <a:spcBef>
                <a:spcPts val="1200"/>
              </a:spcBef>
              <a:spcAft>
                <a:spcPts val="0"/>
              </a:spcAft>
              <a:buSzPts val="358"/>
              <a:buNone/>
            </a:pPr>
            <a:r>
              <a:rPr lang="en" sz="1487"/>
              <a:t>6.16045e+06 1 0.693147 ... 0.000204207 0</a:t>
            </a:r>
            <a:endParaRPr sz="1487"/>
          </a:p>
          <a:p>
            <a:pPr indent="0" lvl="0" marL="0" rtl="0" algn="l">
              <a:lnSpc>
                <a:spcPct val="105000"/>
              </a:lnSpc>
              <a:spcBef>
                <a:spcPts val="1200"/>
              </a:spcBef>
              <a:spcAft>
                <a:spcPts val="0"/>
              </a:spcAft>
              <a:buSzPts val="358"/>
              <a:buNone/>
            </a:pPr>
            <a:r>
              <a:rPr lang="en" sz="1487"/>
              <a:t>6.16043e+06 13 2.63906 ... 0.000204207 0</a:t>
            </a:r>
            <a:endParaRPr sz="1487"/>
          </a:p>
          <a:p>
            <a:pPr indent="0" lvl="0" marL="0" rtl="0" algn="l">
              <a:lnSpc>
                <a:spcPct val="105000"/>
              </a:lnSpc>
              <a:spcBef>
                <a:spcPts val="1200"/>
              </a:spcBef>
              <a:spcAft>
                <a:spcPts val="0"/>
              </a:spcAft>
              <a:buSzPts val="358"/>
              <a:buNone/>
            </a:pPr>
            <a:r>
              <a:rPr lang="en" sz="1487"/>
              <a:t>4.26009e+07 1678 7.42595 ... 0.000204207 1</a:t>
            </a:r>
            <a:endParaRPr sz="1487"/>
          </a:p>
          <a:p>
            <a:pPr indent="0" lvl="0" marL="0" rtl="0" algn="l">
              <a:lnSpc>
                <a:spcPct val="105000"/>
              </a:lnSpc>
              <a:spcBef>
                <a:spcPts val="1200"/>
              </a:spcBef>
              <a:spcAft>
                <a:spcPts val="0"/>
              </a:spcAft>
              <a:buSzPts val="358"/>
              <a:buNone/>
            </a:pPr>
            <a:r>
              <a:rPr lang="en" sz="1487"/>
              <a:t>1.31377e+06 2 1.09861 ... 0.000204207 0</a:t>
            </a:r>
            <a:endParaRPr sz="1487"/>
          </a:p>
          <a:p>
            <a:pPr indent="0" lvl="0" marL="0" rtl="0" algn="l">
              <a:lnSpc>
                <a:spcPct val="105000"/>
              </a:lnSpc>
              <a:spcBef>
                <a:spcPts val="1200"/>
              </a:spcBef>
              <a:spcAft>
                <a:spcPts val="0"/>
              </a:spcAft>
              <a:buSzPts val="358"/>
              <a:buNone/>
            </a:pPr>
            <a:r>
              <a:rPr lang="en" sz="1487"/>
              <a:t>6.16046e+06 2 1.09861 ... 0.000204207 0</a:t>
            </a:r>
            <a:endParaRPr sz="1487"/>
          </a:p>
          <a:p>
            <a:pPr indent="0" lvl="0" marL="0" rtl="0" algn="l">
              <a:lnSpc>
                <a:spcPct val="105000"/>
              </a:lnSpc>
              <a:spcBef>
                <a:spcPts val="1200"/>
              </a:spcBef>
              <a:spcAft>
                <a:spcPts val="1200"/>
              </a:spcAft>
              <a:buSzPts val="358"/>
              <a:buNone/>
            </a:pPr>
            <a:r>
              <a:rPr lang="en" sz="1487"/>
              <a:t>1.31377e+06 2 1.09861 ... 0.000204207 0</a:t>
            </a:r>
            <a:endParaRPr sz="1487"/>
          </a:p>
        </p:txBody>
      </p:sp>
      <p:sp>
        <p:nvSpPr>
          <p:cNvPr id="278" name="Google Shape;278;p39"/>
          <p:cNvSpPr txBox="1"/>
          <p:nvPr>
            <p:ph type="title"/>
          </p:nvPr>
        </p:nvSpPr>
        <p:spPr>
          <a:xfrm>
            <a:off x="197375" y="450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t>Datasets</a:t>
            </a:r>
            <a:endParaRPr sz="3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Persebaran lifetime_freq pada data</a:t>
            </a:r>
            <a:endParaRPr/>
          </a:p>
        </p:txBody>
      </p:sp>
      <p:sp>
        <p:nvSpPr>
          <p:cNvPr id="284" name="Google Shape;284;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Contoh data yang didapat</a:t>
            </a:r>
            <a:endParaRPr/>
          </a:p>
        </p:txBody>
      </p:sp>
      <p:pic>
        <p:nvPicPr>
          <p:cNvPr id="285" name="Google Shape;285;p40"/>
          <p:cNvPicPr preferRelativeResize="0"/>
          <p:nvPr/>
        </p:nvPicPr>
        <p:blipFill>
          <a:blip r:embed="rId3">
            <a:alphaModFix/>
          </a:blip>
          <a:stretch>
            <a:fillRect/>
          </a:stretch>
        </p:blipFill>
        <p:spPr>
          <a:xfrm>
            <a:off x="4407700" y="727199"/>
            <a:ext cx="4611375" cy="3689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1"/>
          <p:cNvSpPr txBox="1"/>
          <p:nvPr>
            <p:ph type="title"/>
          </p:nvPr>
        </p:nvSpPr>
        <p:spPr>
          <a:xfrm>
            <a:off x="197375" y="1755300"/>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Machine Learning</a:t>
            </a:r>
            <a:endParaRPr/>
          </a:p>
          <a:p>
            <a:pPr indent="0" lvl="0" marL="0" rtl="0" algn="l">
              <a:spcBef>
                <a:spcPts val="0"/>
              </a:spcBef>
              <a:spcAft>
                <a:spcPts val="0"/>
              </a:spcAft>
              <a:buNone/>
            </a:pPr>
            <a:r>
              <a:rPr lang="en"/>
              <a:t>Model</a:t>
            </a:r>
            <a:endParaRPr/>
          </a:p>
        </p:txBody>
      </p:sp>
      <p:pic>
        <p:nvPicPr>
          <p:cNvPr id="291" name="Google Shape;291;p41"/>
          <p:cNvPicPr preferRelativeResize="0"/>
          <p:nvPr/>
        </p:nvPicPr>
        <p:blipFill>
          <a:blip r:embed="rId3">
            <a:alphaModFix/>
          </a:blip>
          <a:stretch>
            <a:fillRect/>
          </a:stretch>
        </p:blipFill>
        <p:spPr>
          <a:xfrm>
            <a:off x="5186750" y="152400"/>
            <a:ext cx="2618591"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2"/>
          <p:cNvSpPr txBox="1"/>
          <p:nvPr>
            <p:ph type="title"/>
          </p:nvPr>
        </p:nvSpPr>
        <p:spPr>
          <a:xfrm>
            <a:off x="197375" y="1755300"/>
            <a:ext cx="38613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Machine Learning</a:t>
            </a:r>
            <a:endParaRPr/>
          </a:p>
          <a:p>
            <a:pPr indent="0" lvl="0" marL="0" rtl="0" algn="l">
              <a:spcBef>
                <a:spcPts val="0"/>
              </a:spcBef>
              <a:spcAft>
                <a:spcPts val="0"/>
              </a:spcAft>
              <a:buNone/>
            </a:pPr>
            <a:r>
              <a:rPr lang="en"/>
              <a:t>Implementation</a:t>
            </a:r>
            <a:endParaRPr/>
          </a:p>
        </p:txBody>
      </p:sp>
      <p:pic>
        <p:nvPicPr>
          <p:cNvPr id="297" name="Google Shape;297;p42"/>
          <p:cNvPicPr preferRelativeResize="0"/>
          <p:nvPr/>
        </p:nvPicPr>
        <p:blipFill>
          <a:blip r:embed="rId3">
            <a:alphaModFix/>
          </a:blip>
          <a:stretch>
            <a:fillRect/>
          </a:stretch>
        </p:blipFill>
        <p:spPr>
          <a:xfrm>
            <a:off x="5331700" y="43912"/>
            <a:ext cx="2815750" cy="5055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3"/>
          <p:cNvSpPr txBox="1"/>
          <p:nvPr>
            <p:ph idx="1" type="body"/>
          </p:nvPr>
        </p:nvSpPr>
        <p:spPr>
          <a:xfrm>
            <a:off x="483175" y="1384950"/>
            <a:ext cx="81846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900"/>
              <a:t>Dari penelitian yang akan dilakukan, diharapkan model machine learning yang dikembangkan dapat mengurangi jumlah promosi pada clock tanpa meningkatkan miss ratio dari cache.</a:t>
            </a:r>
            <a:endParaRPr sz="1900"/>
          </a:p>
        </p:txBody>
      </p:sp>
      <p:sp>
        <p:nvSpPr>
          <p:cNvPr id="303" name="Google Shape;303;p43"/>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t>Hasil yang Diharapkan</a:t>
            </a:r>
            <a:endParaRPr sz="3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4"/>
          <p:cNvSpPr txBox="1"/>
          <p:nvPr>
            <p:ph type="title"/>
          </p:nvPr>
        </p:nvSpPr>
        <p:spPr>
          <a:xfrm>
            <a:off x="197375" y="1755300"/>
            <a:ext cx="3861300" cy="163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Hasil Sementara</a:t>
            </a:r>
            <a:endParaRPr/>
          </a:p>
        </p:txBody>
      </p:sp>
      <p:pic>
        <p:nvPicPr>
          <p:cNvPr id="309" name="Google Shape;309;p44"/>
          <p:cNvPicPr preferRelativeResize="0"/>
          <p:nvPr/>
        </p:nvPicPr>
        <p:blipFill>
          <a:blip r:embed="rId3">
            <a:alphaModFix/>
          </a:blip>
          <a:stretch>
            <a:fillRect/>
          </a:stretch>
        </p:blipFill>
        <p:spPr>
          <a:xfrm>
            <a:off x="4879675" y="152400"/>
            <a:ext cx="3605429"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